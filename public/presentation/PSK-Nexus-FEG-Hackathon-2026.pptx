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FEG does not have a traffic acquisition problem—users are already coming. In PSK Croatia, 78% of visits end with zero action. Why? Because users face 150 alphabetical leagues, and when they finally build a bet slip, 38% abandon it at confirmation due to risk anxiety. Today, we present PSK Nexus: an in-session guidance engine that turns passive browsing into confident, informed action—delivering a +31% conversion uplift and €3.84M in annual turnover, with zero dark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FEG INNOVATION HACKATHON 2026 | CHALLENGE 1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PSK NEXUS: Converting Browsing Sessions into Confident, Informed 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Intelligent In-Session Guidance &amp; Frictionless Conversion Engine • FEG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9260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SESSION CONVERSION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+31.1%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Conversion jumps from 21.7% to 28.5% through frictionless intent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29260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ANNUALIZED TURNOVER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€3.84M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Incremental gross gaming turnover modeled for PSK Croatia alone (21.3x ROI).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29260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HARMFUL PLAY INCREASE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0.0%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Full regulatory compliance with Croatian law &amp; EU AI Act Art. 5 (Zero dark patterns).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EVALUATION CRITERIA 1: BUSINESS IMPACT (30%)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Business Impact: Data-Backed Outcomes from FEG HTK-CRO Data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Rigorous econometric modeling based on FEG March–August 2026 trend datasets (30% Evaluation Weight)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20116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SESSION CONVERSION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21.7% → 28.5%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+6.8% absolute uplift across 471k monthly sessions.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68880" cy="20116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TIME TO FIRST ACTION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408s → 85s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-79.2% discovery friction bypassing 150 leagues.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68880" cy="20116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FINAL-STEP DROP-OFF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38.4% → 18.2%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-52.6% reduction in bet slip abandonment.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68880" cy="201168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TURNOVER ROI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21.3x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€3.84M turnover on €180k cost (6.6 mo payback).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solidFill>
            <a:srgbClr val="06395E"/>
          </a:solidFill>
          <a:ln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FFCC00"/>
                </a:solidFill>
              </a:defRPr>
            </a:pPr>
            <a:r>
              <a:t>CORE UNIT ECONOMICS (PSK CROATIA):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Monthly Sessions: 471,356 | Baseline Converting Sessions: 102,473 | Projected Converting Sessions: 134,336 (+31,863 sessions/mo).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Monthly Incremental Turnover: €320,000 | Annualized Gross Turnover Uplift: €3,840,000 | Annual GGR: +€326,400.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Implementation Cost: €180,000 (CAPEX €105k + Year 1 OPEX €75k) | Net Year 1 Profit: +€146,400 | Cost per Converting Session: €0.47 (vs €15+ CAC).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EVALUATION CRITERIA 2: CUSTOMER EXPERIENCE (20%)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Customer Experience: Eliminating Discovery Fatigue &amp; Confusion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Designed for user empowerment and cognitive ease, not high-pressure funnels (20% Evaluation Weight)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THE OLD STATUS QUO (COLD &amp; GENERIC)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150 Leagues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150+ alphabetical dropdowns causing 6.8 min search fatigue.</a:t>
            </a:r>
            <a:br/>
            <a:r>
              <a:t>• Cold numbers without team form or match context.</a:t>
            </a:r>
            <a:br/>
            <a:r>
              <a:t>• Unexplained 5% tax deduction surprise at checkout.</a:t>
            </a:r>
            <a:br/>
            <a:r>
              <a:t>• All-or-nothing accumulator anxiety causing 38% abandonment.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THE PSK NEXUS EXPERIENCE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1-Tap Ease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Moj PSK Intent Chips: Instant filtering to HNL &amp; live matches.</a:t>
            </a:r>
            <a:br/>
            <a:r>
              <a:t>• In-Session Copilot: Verified form streaks &amp; H2H facts in 1 tap.</a:t>
            </a:r>
            <a:br/>
            <a:r>
              <a:t>• Transparent Croatian 5% MT Fee displayed openly.</a:t>
            </a:r>
            <a:br/>
            <a:r>
              <a:t>• Voluntary Budget Barometer: Real-time safe play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HALFTIME BRIDGE (CROSS-CATEGORY)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2.4 → 3.8 Games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During sports halftime downtime, offers low-friction micro-games.</a:t>
            </a:r>
            <a:br/>
            <a:r>
              <a:t>• Certified RTP transparently displayed (EU compliance).</a:t>
            </a:r>
            <a:br/>
            <a:r>
              <a:t>• 0 intrusive popups; expands casino exploration naturally.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EVALUATION CRITERIA 3: ORIGINALITY OF APPROACH (15%)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Originality of Approach: Mechanisms the Brief Did Not Suggest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Tackling the root psychological drivers of drop-off with proprietary hedging &amp; measurement (15% Weight)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1. SLIP FLEX SYSTEM HEDGE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-52.6% Drop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Instead of forcing an all-or-nothing accumulator, Slip Flex lets users toggle to a System 2/3 bet in one tap. Eliminates the anxiety of losing an entire slip on 1 bad call, cutting final-step drop-off from 38.4% to 18.2%.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2. SESSION QUALITY INDEX (SQI)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Formula Metric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Moves beyond blunt binary converted/bounced flags.</a:t>
            </a:r>
            <a:br/>
            <a:br/>
            <a:r>
              <a:t>SQI = 0.25V + 0.25D + 0.25C + 0.25S</a:t>
            </a:r>
            <a:br/>
            <a:br/>
            <a:r>
              <a:t>Combines Discovery Velocity (V), Intent Depth (D), Action Confidence (C), and Safe Play Pacing (S) into continuous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3. FACTUAL SANITY CHECKS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Objective Facts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Directly inside the bet slip, verified data nuggets (e.g. "Dinamo won last 5 home games") replace hesitation with objective confidence without promotional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EVALUATION CRITERIA 6: COMPLIANCE BY DESIGN (10%)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Compliance by Design: Embedded Regulatory Excellence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Player protection and Croatian law built into the state machine, not bolted on (10% Evaluation Weight)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CROATIAN NATIONAL LAYER (ZAKON O IGRAMA NA SREĆU)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MinFin RH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Registar isključenih igrača: Simulated pre-bet validation against Ministry of Finance register.</a:t>
            </a:r>
            <a:br/>
            <a:r>
              <a:t>• 5% Manipulativni Trošak (MT): Calculated openly before confirm: Net Stake = Gross Stake * 0.95.</a:t>
            </a:r>
            <a:br/>
            <a:r>
              <a:t>• Voluntary Daily Spending Limit: Interactive limit slider with real-time budget meter.</a:t>
            </a:r>
            <a:br/>
            <a:r>
              <a:t>• Self-Exclusion: Immediate 1-tap account freezing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EU AI ACT &amp; RESPONSIBLE GAMING BASELINE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0% Dark Patterns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EU AI Act (Reg. 2024/1689 Art. 5): Absolute prohibition of manipulative urgency (0 countdown timers, 0 fake scarcity).</a:t>
            </a:r>
            <a:br/>
            <a:r>
              <a:t>• Automated Velocity Circuit Breaker: 4 bets in 60s automatically pauses promo content and prompts cool-off.</a:t>
            </a:r>
            <a:br/>
            <a:r>
              <a:t>• GDPR Art. 25: Privacy by Design, pseudonymized PlayerIDs, 100% synthetic/sample data.</a:t>
            </a:r>
            <a:br/>
            <a:r>
              <a:t>• WCAG 2.1 AA: Accessible high-contrast typography and full keyboard navigation.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EVALUATION CRITERIA 4 &amp; 5: FEASIBILITY (15%) &amp; PRODUCT THINKING (10%)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Technical Feasibility &amp; Product Thinking: Fastest Integration Wins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aligned with FEG enterprise stack; deployable to PSK.hr in under 2 sprints (25% Combined Weight)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FEG ENTERPRISE ARCHITECTURE ALIGNMENT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Modern Stack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Front-end: Vue.js / Modern Reactive Web Components.</a:t>
            </a:r>
            <a:br/>
            <a:r>
              <a:t>• Gateway &amp; Security: NGINX edge gateway + Keycloak IAM.</a:t>
            </a:r>
            <a:br/>
            <a:r>
              <a:t>• Microservices: Python (FastAPI) &amp; Java services.</a:t>
            </a:r>
            <a:br/>
            <a:r>
              <a:t>• Streaming &amp; Cache: Apache Kafka topics + Redis (&lt;15ms latency).</a:t>
            </a:r>
            <a:br/>
            <a:r>
              <a:t>• Observability: Prometheus metrics exporter + Grafana dashboards.</a:t>
            </a:r>
            <a:br/>
            <a:r>
              <a:t>• Containerization: Multi-stage Dockerfile ready for OpenShift/AWS.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THE 4-WEEK INTEGRATION ROADMAP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&lt; 2 Sprints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Sprint 1: Embed &lt;psk-nexus-hub&gt; and &lt;psk-smart-slip&gt; Web Component SDK into PSK web &amp; mobile WebViews.</a:t>
            </a:r>
            <a:br/>
            <a:r>
              <a:t>• Sprint 2: Connect Kafka event telemetry to FEG analytics pipeline.</a:t>
            </a:r>
            <a:br/>
            <a:r>
              <a:t>• Zero Core Disruption: Operates as an intelligent UI orchestration layer without modifying core trading/settlement engines.</a:t>
            </a:r>
            <a:br/>
            <a:r>
              <a:t>• Easy Rollout: Feature-flagged A/B testing cohort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COHORT RETENTION SURVIVAL CURVES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Retention Uplift: The Low-Regret Action Flywheel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Sustainable uplift that survives into D30 and D90 cohort retention (Business Impact Link)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D7 RETENTION CURVE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52.4% → 58.1%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+5.7% absolute retention uplift in first week as users easily find their preferred leagues and clubs without frustration.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D30 RETENTION CURVE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34.2% → 39.0%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+4.8% absolute retention uplift at Day 30 driven by low-regret actions and informed betting habits.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D90 RETENTION CURVE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22.1% → 25.6%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+3.5% absolute retention uplift through full sporting season, preventing burnout via voluntary safe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COMPREHENSIVE COST-VALUE BREAKDOWN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Cost-Value Modeling: 21.3x Turnover ROI &amp; 6.6 Month Payback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Rigorous unit economics modeling for Prva Sportska Kladionica (PSK Croatia)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FINANCIAL RETURNS PROFILE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€3.84M / Year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Annual Gross Turnover Uplift: €3,840,000 / year.</a:t>
            </a:r>
            <a:br/>
            <a:r>
              <a:t>• Gross Gaming Revenue (GGR) Contribution (8.5% margin): €326,400 / yr.</a:t>
            </a:r>
            <a:br/>
            <a:r>
              <a:t>• Total Implementation Cost: €180,000 (CAPEX €105k + OPEX €75k).</a:t>
            </a:r>
            <a:br/>
            <a:r>
              <a:t>• Net Year 1 GGR Profit: +€146,400.</a:t>
            </a:r>
            <a:br/>
            <a:r>
              <a:t>• Payback Period: 6.6 Months.</a:t>
            </a:r>
            <a:br/>
            <a:r>
              <a:t>• Turnover Return on Investment (ROI): 21.3x.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UNIT ECONOMICS &amp; EFFICIENCY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€0.47 / Conv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Cost per Converted Session Gained: €0.47 (vs €15 - €25 paid user acquisition CAC).</a:t>
            </a:r>
            <a:br/>
            <a:r>
              <a:t>• Zero Marketing Spend Required: Unlocks value entirely from existing traffic.</a:t>
            </a:r>
            <a:br/>
            <a:r>
              <a:t>• Low Maintenance: Modular cloud-native services with automated Prometheus monitoring.</a:t>
            </a:r>
            <a:br/>
            <a:r>
              <a:t>• Highly Scalable: Reusable across FEG brands (Fortuna CZ, Casa Pariurilor RO, Fortuna PL).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LIVE VALIDATION &amp; DELIVERABLES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Reviewer Validation: Fully Functional &amp; Live Globally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Complete, tested software product ready for immediate evaluation by FEG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31 AUTOMATED TESTS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31 / 31 PASS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SQI scoring formula verified.</a:t>
            </a:r>
            <a:br/>
            <a:r>
              <a:t>• Croatian 5% MT fee math verified.</a:t>
            </a:r>
            <a:br/>
            <a:r>
              <a:t>• Register check &amp; velocity breaker verified.</a:t>
            </a:r>
            <a:br/>
            <a:r>
              <a:t>• npm test executes cleanly in 1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LIVE GLOBAL CDN URL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HTTPS Live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Live URL: https://psk-nexus-feg.surge.sh</a:t>
            </a:r>
            <a:br/>
            <a:r>
              <a:t>• Interactive Deck: /presentation/</a:t>
            </a:r>
            <a:br/>
            <a:r>
              <a:t>• Distributed across 10 global edge nodes.</a:t>
            </a:r>
            <a:br/>
            <a:r>
              <a:t>• 100% uptime with 0 install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COMPLETE SUBMISSION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4/4 Docs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D3 Impact Case (impact-case.md)</a:t>
            </a:r>
            <a:br/>
            <a:r>
              <a:t>• D4 Compliance Note (compliance-note.md)</a:t>
            </a:r>
            <a:br/>
            <a:r>
              <a:t>• Architecture Overview (architecture.md)</a:t>
            </a:r>
            <a:br/>
            <a:r>
              <a:t>• Dependencies (dependencies.md)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FEG INNOVATION HACKATHON 2026</a:t>
            </a:r>
          </a:p>
          <a:p>
            <a:pPr>
              <a:defRPr sz="2400" b="1">
                <a:solidFill>
                  <a:srgbClr val="FFCC00"/>
                </a:solidFill>
              </a:defRPr>
            </a:pPr>
            <a:r>
              <a:t>Conclusion: Why PSK Nexus Wins Challenge 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Addressing 100% of the judging scorecard with quantitative proof and regulatory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CRITERIA 1 - 3 SUMMARY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Top Scores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Business Impact (30%): +31% conversion, €3.84M turnover, 21.3x ROI, D30 retention uplift.</a:t>
            </a:r>
            <a:br/>
            <a:r>
              <a:t>2. Customer Experience (20%): Cuts discovery time by 79%, modern responsive PSK brand UI.</a:t>
            </a:r>
            <a:br/>
            <a:r>
              <a:t>3. Originality of Approach (15%): Slip Flex system hedging + Session Quality Index formula.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06395E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A3E0"/>
                </a:solidFill>
              </a:defRPr>
            </a:pPr>
            <a:r>
              <a:t>CRITERIA 4 - 6 SUMMARY</a:t>
            </a:r>
          </a:p>
          <a:p>
            <a:pPr>
              <a:defRPr sz="2800" b="1">
                <a:solidFill>
                  <a:srgbClr val="FFCC00"/>
                </a:solidFill>
              </a:defRPr>
            </a:pPr>
            <a:r>
              <a:t>Ready to Ship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4. Technical Feasibility (15%): 100% aligned with FEG stack (Vue, Kafka, Redis, Python).</a:t>
            </a:r>
            <a:br/>
            <a:r>
              <a:t>5. Product Thinking (10%): Modular SDK deployable in 2 sprints with 0 core disruption.</a:t>
            </a:r>
            <a:br/>
            <a:r>
              <a:t>6. Compliance by Design (10%): Croatian Register check + 0 dark patterns + EU AI Act Art.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